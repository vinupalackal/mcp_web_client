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10332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FFFFFF"/>
                </a:solidFill>
              </a:rPr>
              <a:t>MCP Client Web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8346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0" i="0">
                <a:solidFill>
                  <a:srgbClr val="E2E8F0"/>
                </a:solidFill>
              </a:rPr>
              <a:t>Browser-Based AI-Powered Device Diagnostics via Model Context Protocol</a:t>
            </a:r>
          </a:p>
        </p:txBody>
      </p:sp>
      <p:sp>
        <p:nvSpPr>
          <p:cNvPr id="6" name="Rectangle 5"/>
          <p:cNvSpPr/>
          <p:nvPr/>
        </p:nvSpPr>
        <p:spPr>
          <a:xfrm>
            <a:off x="4023360" y="3493008"/>
            <a:ext cx="4160520" cy="254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7033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94A3B8"/>
                </a:solidFill>
              </a:rPr>
              <a:t>v0.4.0  |  FastAPI + Vanilla JS  |  JSON-RPC 2.0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4572000"/>
            <a:ext cx="2011680" cy="402336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45720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Multi-LLM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4572000"/>
            <a:ext cx="2011680" cy="402336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0" y="45720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265+ Tools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4572000"/>
            <a:ext cx="2011680" cy="402336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45720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SSO Auth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412480" y="4572000"/>
            <a:ext cx="2011680" cy="40233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4572000"/>
            <a:ext cx="201168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Parallel Exec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6263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94A3B8"/>
                </a:solidFill>
              </a:rPr>
              <a:t>March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62636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4A3B8"/>
                </a:solidFill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Agenda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12893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Product Overview &amp; Goals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20665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System Architecture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84378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Core Modules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6210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MCP Protocol &amp; Tool 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43982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LLM Integration &amp; Providers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51755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Query Intelligence &amp; Routing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79" y="123444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355079" y="1234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903719" y="12893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Parallel Execution &amp; Split-Phase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55079" y="201168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355079" y="201168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903719" y="20665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Repeated Tool Execution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55079" y="278892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79" y="27889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09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03719" y="284378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Enterprise LLM Gateway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355079" y="356616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55079" y="35661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903719" y="362102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SSO &amp; Multi-User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355079" y="434340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55079" y="4343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03719" y="43982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UI Features &amp; Tool Output Display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355079" y="5120640"/>
            <a:ext cx="457200" cy="4572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355079" y="51206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12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903719" y="517550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Security, Deployment &amp; Use Cases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Product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4300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MCP Client Web is a browser-based chat interface that connects to MCP servers, enabling AI-assisted device diagnostics, system monitoring, and tool-driven workflows through natural language -- with no build step required.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65960"/>
            <a:ext cx="3566160" cy="1298448"/>
          </a:xfrm>
          <a:prstGeom prst="rect">
            <a:avLst/>
          </a:prstGeom>
          <a:solidFill>
            <a:srgbClr val="1E293B"/>
          </a:solidFill>
          <a:ln w="9525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8368" y="20574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No Build Step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" y="244144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Pure Vanilla JS SPA -- no webpack or npm build</a:t>
            </a:r>
          </a:p>
        </p:txBody>
      </p:sp>
      <p:sp>
        <p:nvSpPr>
          <p:cNvPr id="9" name="Rectangle 8"/>
          <p:cNvSpPr/>
          <p:nvPr/>
        </p:nvSpPr>
        <p:spPr>
          <a:xfrm>
            <a:off x="4389120" y="1965960"/>
            <a:ext cx="3566160" cy="1298448"/>
          </a:xfrm>
          <a:prstGeom prst="rect">
            <a:avLst/>
          </a:prstGeom>
          <a:solidFill>
            <a:srgbClr val="1E293B"/>
          </a:solidFill>
          <a:ln w="9525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0574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Distributed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8848" y="244144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MCP servers, LLM, and client on separate machines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1965960"/>
            <a:ext cx="3566160" cy="1298448"/>
          </a:xfrm>
          <a:prstGeom prst="rect">
            <a:avLst/>
          </a:prstGeom>
          <a:solidFill>
            <a:srgbClr val="1E293B"/>
          </a:solidFill>
          <a:ln w="9525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39328" y="205740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Multi-Server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39328" y="244144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Connect to multiple MCP servers simultaneously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8640" y="3429000"/>
            <a:ext cx="3566160" cy="1298448"/>
          </a:xfrm>
          <a:prstGeom prst="rect">
            <a:avLst/>
          </a:prstGeom>
          <a:solidFill>
            <a:srgbClr val="1E293B"/>
          </a:solidFill>
          <a:ln w="9525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" y="35204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Multi-LLM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90448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OpenAI, Ollama, Enterprise (Comcast) and Mock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3429000"/>
            <a:ext cx="3566160" cy="1298448"/>
          </a:xfrm>
          <a:prstGeom prst="rect">
            <a:avLst/>
          </a:prstGeom>
          <a:solidFill>
            <a:srgbClr val="1E293B"/>
          </a:solidFill>
          <a:ln w="9525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98848" y="35204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SSO Ready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98848" y="390448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Azure AD &amp; Google OIDC with per-user data isolation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3429000"/>
            <a:ext cx="3566160" cy="1298448"/>
          </a:xfrm>
          <a:prstGeom prst="rect">
            <a:avLst/>
          </a:prstGeom>
          <a:solidFill>
            <a:srgbClr val="1E293B"/>
          </a:solidFill>
          <a:ln w="9525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39328" y="3520440"/>
            <a:ext cx="33375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Parallel Exec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39328" y="3904488"/>
            <a:ext cx="33375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Concurrent tool dispatch via asyncio.gather()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3639312" cy="5303520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B82F6"/>
                </a:solidFill>
              </a:rPr>
              <a:t>Browser (Frontend)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27632"/>
            <a:ext cx="3639312" cy="127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755648"/>
            <a:ext cx="331012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app.js -- Chat UI, tool panels, synthesis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settings.js -- Server / LLM / Tool config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localStorage -- Config persistence &amp; cache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- 401 guard  |  SSO user menu  |  Themes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014215" y="361188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&lt;-&gt;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170432"/>
            <a:ext cx="3639312" cy="5303520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26187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0B981"/>
                </a:solidFill>
              </a:rPr>
              <a:t>FastAPI Backend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25112" y="1627632"/>
            <a:ext cx="3639312" cy="127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755648"/>
            <a:ext cx="331012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REST API endpoints (/api/*)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Query Classifier &amp; Mode Routing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MCP Manager (JSON-RPC 2.0 client)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LLM Client Factory (adapters)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Session Manager (in-memory)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Auth Middleware + SQLite 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3611880"/>
            <a:ext cx="29260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0B981"/>
                </a:solidFill>
              </a:rPr>
              <a:t>&lt;-&gt;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93024" y="1170432"/>
            <a:ext cx="3639312" cy="5303520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02752" y="1261872"/>
            <a:ext cx="3419856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External Services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93024" y="1627632"/>
            <a:ext cx="3639312" cy="127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57616" y="1755648"/>
            <a:ext cx="3310128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MCP Servers -- Tool Registry &amp; Executor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OpenAI / Ollama / Enterprise LLM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Azure AD / Google (OIDC IdP)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- LAN / WAN multi-machine support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Core Modules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3657600" cy="24871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backend/main.py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9344"/>
            <a:ext cx="3401568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FastAPI app &amp; REST endpoints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Query classifier &amp; mode scoring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Multi-turn LLM loop (max 8 turns)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Split-phase tool dispatch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Domain-aware tool narrowing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Synthesis prompt orchestration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370832" y="1170432"/>
            <a:ext cx="3657600" cy="24871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618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backend/mcp_manager.py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98848" y="1609344"/>
            <a:ext cx="3401568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JSON-RPC 2.0 initialize handshake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tools/list -- tool discovery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tools/call -- tool execution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Chunked catalog (get_tools_for_llm)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Parallel &amp; repeated exec support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Server health monitoring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84464" y="1170432"/>
            <a:ext cx="3657600" cy="24871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94192" y="12618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</a:rPr>
              <a:t>backend/llm_client.py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1609344"/>
            <a:ext cx="3401568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LLMClientFactory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OpenAILLMClient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OllamaLLMClient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EnterpriseLLMClient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Tool result format per provider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Message adapter layer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840480"/>
            <a:ext cx="3657600" cy="24871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" y="393192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B5CF6"/>
                </a:solidFill>
              </a:rPr>
              <a:t>backend/session_manager.py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5216" y="4279392"/>
            <a:ext cx="3401568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In-memory sessions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Message history per session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Tool trace events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Conversation summary builder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User-scoped keying (SSO mode)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70832" y="3840480"/>
            <a:ext cx="3657600" cy="24871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0560" y="393192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EC4899"/>
                </a:solidFill>
              </a:rPr>
              <a:t>backend/auth/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98848" y="4279392"/>
            <a:ext cx="3401568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OIDC provider ABC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Azure AD &amp; Google providers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PKCE code verifier helpers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JWKS cache (offline JWT verify)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JWT issue / validate / revoke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84464" y="3840480"/>
            <a:ext cx="3657600" cy="248716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94192" y="3931920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06B6D4"/>
                </a:solidFill>
              </a:rPr>
              <a:t>backend/static/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4279392"/>
            <a:ext cx="3401568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app.js (Chat UI v21)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settings.js (Tabbed modal)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style.css (3 themes)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login.html (SSO page)</a:t>
            </a:r>
          </a:p>
          <a:p>
            <a:pPr>
              <a:spcBef>
                <a:spcPts val="200"/>
              </a:spcBef>
            </a:pPr>
            <a:r>
              <a:rPr sz="1050">
                <a:solidFill>
                  <a:srgbClr val="E2E8F0"/>
                </a:solidFill>
              </a:rPr>
              <a:t>- tool-tester.html (debug page)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MCP Protocol &amp; Tool Execution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234440"/>
            <a:ext cx="1508760" cy="100584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234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1 User
Message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-&gt;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121408" y="1234440"/>
            <a:ext cx="150876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121408" y="1234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2 LLM +
Tools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30168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-&gt;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31336" y="1234440"/>
            <a:ext cx="1508760" cy="100584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31336" y="1234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3 Parse
Calls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0096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-&gt;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41264" y="1234440"/>
            <a:ext cx="1508760" cy="100584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41264" y="1234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4 Parallel
Exec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50024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-&gt;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251192" y="1234440"/>
            <a:ext cx="1508760" cy="100584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51192" y="1234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5 Results
to LLM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759952" y="1554480"/>
            <a:ext cx="201168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2E8F0"/>
                </a:solidFill>
              </a:rPr>
              <a:t>-&gt;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234440"/>
            <a:ext cx="1508760" cy="100584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234440"/>
            <a:ext cx="15087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</a:rPr>
              <a:t>6 Synthesis
Answer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24231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JSON-RPC 2.0 Initialize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2788920"/>
            <a:ext cx="5120640" cy="2743200"/>
          </a:xfrm>
          <a:prstGeom prst="rect">
            <a:avLst/>
          </a:prstGeom>
          <a:solidFill>
            <a:srgbClr val="0D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" y="2880360"/>
            <a:ext cx="48463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0B981"/>
                </a:solidFill>
              </a:rPr>
              <a:t>{
  "jsonrpc": "2.0", "id": 1,
  "method": "initialize",
  "params": {
    "protocolVersion": "2024-11-05",
    "clientInfo": {
      "name": "mcp-client-web",
      "version": "1.0"
  }}
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52160" y="2423160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Key Behaviours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852160" y="2788920"/>
            <a:ext cx="594360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035040" y="2880360"/>
            <a:ext cx="55778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</a:pPr>
            <a:r>
              <a:rPr sz="1100">
                <a:solidFill>
                  <a:srgbClr val="E2E8F0"/>
                </a:solidFill>
              </a:rPr>
              <a:t>- Tool IDs namespaced: server_alias__tool_name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2E8F0"/>
                </a:solidFill>
              </a:rPr>
              <a:t>- Max 8 tool calls per turn (MCP_MAX_TOOL_CALLS_PER_TURN)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2E8F0"/>
                </a:solidFill>
              </a:rPr>
              <a:t>- Results &gt;12K chars truncated before LLM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2E8F0"/>
                </a:solidFill>
              </a:rPr>
              <a:t>- asyncio.gather() fires all calls concurrently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2E8F0"/>
                </a:solidFill>
              </a:rPr>
              <a:t>- Waits for slowest device (max of all latencies)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2E8F0"/>
                </a:solidFill>
              </a:rPr>
              <a:t>- Tool results labeled [tool_name] (Ollama compat)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E2E8F0"/>
                </a:solidFill>
              </a:rPr>
              <a:t>- Deduplication: same tool+args called once only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52160" y="5806440"/>
            <a:ext cx="5943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Tool naming: home_mcp_server__get_dmesg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LLM Integration &amp; Providers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650992" cy="24505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5431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OpenAI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9344"/>
            <a:ext cx="53949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Configurable base URL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API key authentication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Uses tool_call_id in responses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Supports GPT-4o, GPT-4-turbo, etc.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Standard /v1/chat/completions</a:t>
            </a:r>
          </a:p>
        </p:txBody>
      </p:sp>
      <p:sp>
        <p:nvSpPr>
          <p:cNvPr id="8" name="Rectangle 7"/>
          <p:cNvSpPr/>
          <p:nvPr/>
        </p:nvSpPr>
        <p:spPr>
          <a:xfrm>
            <a:off x="6355080" y="1170432"/>
            <a:ext cx="5650992" cy="24505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4808" y="1261872"/>
            <a:ext cx="5431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Ollama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83096" y="1609344"/>
            <a:ext cx="53949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Local or remote LAN instance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No API key required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Tool name only (no tool_call_id)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Results labeled [tool_name] prefix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llama3, mistral, qwen2.5, etc.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803904"/>
            <a:ext cx="5650992" cy="24505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895344"/>
            <a:ext cx="5431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</a:rPr>
              <a:t>Enterprise (Comcast Gateway)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242816"/>
            <a:ext cx="53949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OAuth 2.0 bearer token auth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Token from /v2/oauth/token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In-memory token cache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OpenAI-compat /chat/completions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Model catalog from UI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55080" y="3803904"/>
            <a:ext cx="5650992" cy="2450592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64808" y="3895344"/>
            <a:ext cx="5431536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94A3B8"/>
                </a:solidFill>
              </a:rPr>
              <a:t>Mock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83096" y="4242816"/>
            <a:ext cx="5394960" cy="19476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Testing / offline CI mode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Deterministic responses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No network calls made</a:t>
            </a:r>
          </a:p>
          <a:p>
            <a:pPr>
              <a:spcBef>
                <a:spcPts val="200"/>
              </a:spcBef>
            </a:pPr>
            <a:r>
              <a:rPr sz="1200">
                <a:solidFill>
                  <a:srgbClr val="E2E8F0"/>
                </a:solidFill>
              </a:rPr>
              <a:t>- Full test suite coverage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Query Intelligence &amp;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2743200" cy="157276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direct_fact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+6 direct route
+2 single domain
Eg: uptime?</a:t>
            </a:r>
          </a:p>
        </p:txBody>
      </p:sp>
      <p:sp>
        <p:nvSpPr>
          <p:cNvPr id="8" name="Rectangle 7"/>
          <p:cNvSpPr/>
          <p:nvPr/>
        </p:nvSpPr>
        <p:spPr>
          <a:xfrm>
            <a:off x="3383280" y="1170432"/>
            <a:ext cx="2743200" cy="157276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targeted_status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93008" y="1664208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+3 keyword match
+2 domains
Eg: show kernel logs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09360" y="1170432"/>
            <a:ext cx="2743200" cy="157276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full_diagnostic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19088" y="1664208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+4 diagnostic words
Eg: why is it slow?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235440" y="1170432"/>
            <a:ext cx="2743200" cy="157276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</a:rPr>
              <a:t>follow_up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45168" y="1664208"/>
            <a:ext cx="2523744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</a:rPr>
              <a:t>+4 follow-up pattern
Eg: what about now?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880360"/>
            <a:ext cx="112471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Direct Query Routes -- bypass scoring, go straight to named tool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273552"/>
            <a:ext cx="11247120" cy="21031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364992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free_memory     -&gt;  how much free memory / available memory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uptime          -&gt;  uptime / how long running / since reboot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cpu_usage       -&gt;  cpu usage / load average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disk_usage      -&gt;  disk space / free disk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wan_ip          -&gt;  wan ip / public ip / external ip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kernel_logs     -&gt;  dmesg / kernel log / last N kernel lines / syslog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5778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Domain-Aware Narrowing: maps logs/memory/cpu/network/disk/wifi/uptime to tool keywords -&gt; filters 265 tools to relevant subset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Parallel Execution &amp; Split-Phase Dispatch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0700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9E0B"/>
                </a:solidFill>
              </a:rPr>
              <a:t>Serial (before):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192024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72768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tool1</a:t>
            </a:r>
          </a:p>
        </p:txBody>
      </p:sp>
      <p:sp>
        <p:nvSpPr>
          <p:cNvPr id="8" name="Rectangle 7"/>
          <p:cNvSpPr/>
          <p:nvPr/>
        </p:nvSpPr>
        <p:spPr>
          <a:xfrm>
            <a:off x="2542032" y="1572768"/>
            <a:ext cx="141732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542032" y="157276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tool2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032504" y="1572768"/>
            <a:ext cx="868680" cy="38404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032504" y="1572768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tool3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202996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Total latency = t1 + t2 + t3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423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0B981"/>
                </a:solidFill>
              </a:rPr>
              <a:t>Parallel -- asyncio.gather() (after):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48640" y="2816352"/>
            <a:ext cx="192024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2816352"/>
            <a:ext cx="1920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tool1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310128"/>
            <a:ext cx="141732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310128"/>
            <a:ext cx="14173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tool2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3803904"/>
            <a:ext cx="868680" cy="38404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803904"/>
            <a:ext cx="868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</a:rPr>
              <a:t>tool3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43708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94A3B8"/>
                </a:solidFill>
              </a:rPr>
              <a:t>Total latency = max(t1, t2, t3)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1170432"/>
            <a:ext cx="5852160" cy="2697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1261872"/>
            <a:ext cx="563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Split-Phase Dispatch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71616" y="1609344"/>
            <a:ext cx="5596128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When tool catalog &gt; tools_split_limit (default 128)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LLM queried once per chunk (read-only conversation snapshot)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All tool_calls across chunks merged and deduped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Injected into Turn 0 -- single parallel MCP execution phase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Early-stop for direct_fact at confidence &gt;= 0.75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Sequential or concurrent chunks (configurable per session)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0" y="3977639"/>
            <a:ext cx="5852160" cy="256032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53328" y="4069079"/>
            <a:ext cx="5632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Synthesis Prompt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71616" y="4416551"/>
            <a:ext cx="5596128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After tools execute, system prompt switches to synthesis mode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Per-tool status table: tool_name [ok/err]: 120-char preview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Instruction: do NOT call more tools, read results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kB -&gt; MB/GB translation directive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Green UI panel when LLM reports no issues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Checkmark Analysis label vs notepad Analysis label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Repeated Tool Execution -- mcp_repeated_exec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15568"/>
            <a:ext cx="10972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1">
                <a:solidFill>
                  <a:srgbClr val="94A3B8"/>
                </a:solidFill>
              </a:rPr>
              <a:t>Virtual client-side tool injected into LLM catalog -- never sent to an MCP server. LLM calls it like any other tool.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3977639" cy="230428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1664208"/>
            <a:ext cx="3758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Parameters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216" y="2011680"/>
            <a:ext cx="3721607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target_tool    -- namespaced MCP tool to repeat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repeat_count   -- number of runs (1-10, mandatory)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interval_ms    -- delay between runs &gt;=0ms (mandatory)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tool_arguments -- args passed to target each run</a:t>
            </a:r>
          </a:p>
        </p:txBody>
      </p:sp>
      <p:sp>
        <p:nvSpPr>
          <p:cNvPr id="9" name="Rectangle 8"/>
          <p:cNvSpPr/>
          <p:nvPr/>
        </p:nvSpPr>
        <p:spPr>
          <a:xfrm>
            <a:off x="4553712" y="1572768"/>
            <a:ext cx="3977639" cy="230428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1664208"/>
            <a:ext cx="3758183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Execution Flow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1728" y="2011680"/>
            <a:ext cx="3721607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- 1. Validate repeat_count &amp; interval_ms (error if missing)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- 2. Verify target_tool exists in registry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- 3. Run target_tool x N sequentially with sleep(interval_ms)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- 4. Save each run output to file (MCP_OUTPUT_DIR)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- 5. Build cross-run synthesis prompt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- 6. LLM analyses trend across all N runs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50224" y="1572768"/>
            <a:ext cx="3154680" cy="2304288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59952" y="1664208"/>
            <a:ext cx="293522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</a:rPr>
              <a:t>Use Cases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0" y="2011680"/>
            <a:ext cx="2898648" cy="1801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Memory leak detection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CPU spin monitoring over time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File descriptor growth tracking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Trend &amp; regression analysis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Multi-point data collection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02336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Tool Schema (excerpt)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407408"/>
            <a:ext cx="11247120" cy="2103120"/>
          </a:xfrm>
          <a:prstGeom prst="rect">
            <a:avLst/>
          </a:prstGeom>
          <a:solidFill>
            <a:srgbClr val="0D131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4498848"/>
            <a:ext cx="10972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0B981"/>
                </a:solidFill>
              </a:rPr>
              <a:t>{ "name": "mcp_repeated_exec",
  "description": "Execute an MCP tool N times at a fixed interval.",
  "required": ["target_tool", "repeat_count", "interval_ms"],
  "properties": {
    "repeat_count": { "type":"integer", "minimum":1, "maximum":10 },
    "interval_ms":  { "type":"integer", "minimum":0 } } }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Enterprise LLM Gateway (Comcast Model Gateway)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39496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9344"/>
            <a:ext cx="513892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Additive, non-breaking -- standard providers unchanged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EnterpriseLLMClient speaks OpenAI /chat/completions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POST /api/enterprise/token -- fetch OAuth 2.0 bearer token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In-memory token cache (per-process, clears on restart)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POST /api/enterprise/token/status -- inspect cached token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POST /api/enterprise/models -- fetch model catalog</a:t>
            </a:r>
          </a:p>
        </p:txBody>
      </p:sp>
      <p:sp>
        <p:nvSpPr>
          <p:cNvPr id="8" name="Rectangle 7"/>
          <p:cNvSpPr/>
          <p:nvPr/>
        </p:nvSpPr>
        <p:spPr>
          <a:xfrm>
            <a:off x="5989320" y="1170432"/>
            <a:ext cx="5806440" cy="2743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9048" y="1261872"/>
            <a:ext cx="5586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</a:rPr>
              <a:t>OAuth 2.0 Token Flow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17336" y="1609344"/>
            <a:ext cx="5550408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- 1. UI sends client_id + client_secret to /api/enterprise/token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- 2. Backend POSTs to Enterprise /v2/oauth/token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- 3. Access token cached in-memory on backend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- 4. Every LLM request: Authorization: Bearer &lt;token&gt;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- 5. Token masked in all logs -- never returned to UI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4041648"/>
            <a:ext cx="5394960" cy="2423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4133088"/>
            <a:ext cx="51755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Settings Modal UI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5216" y="4480560"/>
            <a:ext cx="513892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Mode toggle: Standard vs Enterprise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Enterprise panel: gateway URL + model name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Client credentials: password-type inputs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Fetch Token button -- validates connectivity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Token status badge: valid / expired / not-fetched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89320" y="4041648"/>
            <a:ext cx="5806440" cy="24231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9048" y="4133088"/>
            <a:ext cx="5586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8B5CF6"/>
                </a:solidFill>
              </a:rPr>
              <a:t>Security Guarantees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17336" y="4480560"/>
            <a:ext cx="5550408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Credentials never logged or returned to frontend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Bearer token never exposed beyond backend memory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HTTPS enforced for all enterprise endpoints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Token expiry tracked; badge warns before expiry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SSO Authentication &amp; Multi-User Support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3767328" cy="2880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Auth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9344"/>
            <a:ext cx="35112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OIDC Authorization Code Flow with PKCE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Providers: Azure AD &amp; Google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HttpOnly JWT session cookie (app_token)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Middleware guard on every /api/* route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JWKS cache for offline JWT verification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Stateless -- no server-side session store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170432"/>
            <a:ext cx="3767328" cy="2880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261872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Per-User Data Isolation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1609344"/>
            <a:ext cx="3511296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UserScopedServerStore -- per-user MCP servers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UserScopedLLMConfigStore -- per-user LLM config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Sessions keyed by (user_id, session_id)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UserSettingsStore -- theme &amp; preferences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SQLite default, Postgres-ready via SQLAlchemy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localStorage becomes read-ahead cache only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75" y="1170432"/>
            <a:ext cx="3566160" cy="288036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1261872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</a:rPr>
              <a:t>Admin Controls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1" y="1609344"/>
            <a:ext cx="3310128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GET /api/admin/users -- list all users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PATCH /api/admin/users/{id} -- enable/disable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SSO_ADMIN_EMAILS env var -- admin allowlist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Role-based access on UserProfile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187952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New API Endpoints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4553712"/>
            <a:ext cx="11247120" cy="155448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645152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</a:rPr>
              <a:t>- /auth/login  |  /auth/callback/{provider}  |  /auth/logout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</a:rPr>
              <a:t>- /api/users/me  |  /api/users/me/settings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10B981"/>
                </a:solidFill>
              </a:rPr>
              <a:t>- /api/admin/users  |  /api/admin/users/{user_id}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UI Features &amp; Tool Output Display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3767328" cy="5029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Chat Interface (app.js v21)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9344"/>
            <a:ext cx="3511296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LibreChat-inspired layout -- header / chat / input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Tool executions shown BEFORE synthesis answer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Failed tools auto-expanded (no clicking needed)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Header: Tool Results -- N executed, N failed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Cleaned result_text (unwrapped MCP JSON-RPC envelope)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Analysis label on synthesis block (green = no issues)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Green panel when LLM reports no issues found</a:t>
            </a:r>
          </a:p>
        </p:txBody>
      </p:sp>
      <p:sp>
        <p:nvSpPr>
          <p:cNvPr id="8" name="Rectangle 7"/>
          <p:cNvSpPr/>
          <p:nvPr/>
        </p:nvSpPr>
        <p:spPr>
          <a:xfrm>
            <a:off x="4361688" y="1170432"/>
            <a:ext cx="3767328" cy="5029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71416" y="1261872"/>
            <a:ext cx="35478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Settings Modal (settings.js)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9704" y="1609344"/>
            <a:ext cx="3511296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Tabs: My Account | MCP Servers | LLM Config | Tools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Server CRUD with inline validation &amp; error messages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Refresh Tools -&gt; JSON-RPC tool discovery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LLM toggle: Standard / Enterprise gateway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Connection test per provider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Tools tab: grouped by server alias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Modal stays open during multi-step operations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66175" y="1170432"/>
            <a:ext cx="3566160" cy="502920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75903" y="1261872"/>
            <a:ext cx="334670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</a:rPr>
              <a:t>Themes &amp; Debug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94191" y="1609344"/>
            <a:ext cx="3310128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Three themes: Light / Dark / Deep Teal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Theme saved per-user (SSO) or localStorage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pagehide/visibilitychange -&gt; save session state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Chat view state restored on tab reload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tool-tester.html -- test MCP tools in isolation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Emoji console logs for quick filtering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Swagger UI at /docs, ReDoc at /redoc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Security &amp; Deployment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3657600" cy="5120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1261872"/>
            <a:ext cx="343814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59E0B"/>
                </a:solidFill>
              </a:rPr>
              <a:t>Security Constraints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216" y="1609344"/>
            <a:ext cx="3401568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HTTPS enforced for all MCP server URLs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MCP_ALLOW_HTTP_INSECURE=true for local dev only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API keys / tokens never logged (masked)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Password-type inputs for all credential fields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CORS restricted to known origins in production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JWT PKCE mandatory -- no implicit OAuth flow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Admin allowlist via SSO_ADMIN_EMAILS env var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170432"/>
            <a:ext cx="3931920" cy="5120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261872"/>
            <a:ext cx="371246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3B82F6"/>
                </a:solidFill>
              </a:rPr>
              <a:t>Key Environment Variables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79976" y="1609344"/>
            <a:ext cx="3675888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MCP_ALLOW_HTTP_INSECURE   (false)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MCP_REQUEST_TIMEOUT_MS    (20000)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MCP_MAX_TOOL_CALLS_PER_TURN (8)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MCP_MAX_TOOLS_PER_REQUEST   (128)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MCP_MAX_TOOL_OUTPUT_CHARS_TO_LLM (12000)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MCP_SPLIT_PHASE_MIN_CONFIDENCE (0.75)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OPENAI_API_KEY / OPENAI_BASE_URL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OLLAMA_BASE_URL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SECRET_KEY  (JWT signing for SSO)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321040" y="1170432"/>
            <a:ext cx="3520440" cy="5120640"/>
          </a:xfrm>
          <a:prstGeom prst="rect">
            <a:avLst/>
          </a:prstGeom>
          <a:solidFill>
            <a:srgbClr val="1E293B"/>
          </a:solidFill>
          <a:ln w="9525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1261872"/>
            <a:ext cx="3300984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10B981"/>
                </a:solidFill>
              </a:rPr>
              <a:t>Deployment 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49056" y="1609344"/>
            <a:ext cx="3264408" cy="4617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Single machine: all on localhost:8000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Multi-machine: MCP on LAN IP, LLM on separate host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Enterprise SSO: SQLite or Postgres, OIDC redirect URIs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Python 3.9+ compatible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No build step -- static files served direct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uvicorn backend.main:app --host 0.0.0.0</a:t>
            </a:r>
          </a:p>
          <a:p>
            <a:pPr>
              <a:spcBef>
                <a:spcPts val="200"/>
              </a:spcBef>
            </a:pPr>
            <a:r>
              <a:rPr sz="1100">
                <a:solidFill>
                  <a:srgbClr val="E2E8F0"/>
                </a:solidFill>
              </a:rPr>
              <a:t>- OpenAPI docs: /docs  |  /redoc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56032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Use Cases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1051560"/>
            <a:ext cx="11091672" cy="127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70432"/>
            <a:ext cx="5715000" cy="1664208"/>
          </a:xfrm>
          <a:prstGeom prst="rect">
            <a:avLst/>
          </a:prstGeom>
          <a:solidFill>
            <a:srgbClr val="1E293B"/>
          </a:solidFill>
          <a:ln w="1905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170432"/>
            <a:ext cx="201168" cy="166420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B82F6"/>
                </a:solidFill>
              </a:rPr>
              <a:t>Device Diagnostics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8" y="167335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Natural language queries like 'how much free memory?' or 'show disk usage' route directly to the right tool. Results translated to human-readable form.</a:t>
            </a:r>
          </a:p>
        </p:txBody>
      </p:sp>
      <p:sp>
        <p:nvSpPr>
          <p:cNvPr id="9" name="Rectangle 8"/>
          <p:cNvSpPr/>
          <p:nvPr/>
        </p:nvSpPr>
        <p:spPr>
          <a:xfrm>
            <a:off x="6419088" y="1170432"/>
            <a:ext cx="5715000" cy="1664208"/>
          </a:xfrm>
          <a:prstGeom prst="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19088" y="1170432"/>
            <a:ext cx="201168" cy="1664208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11696" y="1280160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0B981"/>
                </a:solidFill>
              </a:rPr>
              <a:t>Kernel Log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11696" y="1673352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'Show me the last 100 kernel log lines for errors.' Routes to dmesg tool, auto-expands failed results. Green panel = all clear.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2980944"/>
            <a:ext cx="5715000" cy="1664208"/>
          </a:xfrm>
          <a:prstGeom prst="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" y="2980944"/>
            <a:ext cx="201168" cy="1664208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9808" y="30906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59E0B"/>
                </a:solidFill>
              </a:rPr>
              <a:t>Longitudinal Monitoring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8" y="3483864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'Sample memory every 30s, 5 times and check for leaks.' mcp_repeated_exec runs N times sequentially, LLM synthesizes trend.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19088" y="2980944"/>
            <a:ext cx="5715000" cy="1664208"/>
          </a:xfrm>
          <a:prstGeom prst="rect">
            <a:avLst/>
          </a:prstGeom>
          <a:solidFill>
            <a:srgbClr val="1E293B"/>
          </a:solidFill>
          <a:ln w="1905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19088" y="2980944"/>
            <a:ext cx="201168" cy="1664208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11696" y="3090672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8B5CF6"/>
                </a:solidFill>
              </a:rPr>
              <a:t>Root Cause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11696" y="3483864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'Why is this device slow?' Full diagnostic mode: broad tool selection, classification pass, then targeted multi-tool execution with synthesis.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91456"/>
            <a:ext cx="5715000" cy="1664208"/>
          </a:xfrm>
          <a:prstGeom prst="rect">
            <a:avLst/>
          </a:prstGeom>
          <a:solidFill>
            <a:srgbClr val="1E293B"/>
          </a:solidFill>
          <a:ln w="1905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57200" y="4791456"/>
            <a:ext cx="201168" cy="1664208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49011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C4899"/>
                </a:solidFill>
              </a:rPr>
              <a:t>Enterprise Multi-User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294376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SSO-authenticated deployment. Each engineer has isolated MCP &amp; LLM configs. Comcast Model Gateway for on-prem LLM inference via OAuth 2.0.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19088" y="4791456"/>
            <a:ext cx="5715000" cy="1664208"/>
          </a:xfrm>
          <a:prstGeom prst="rect">
            <a:avLst/>
          </a:prstGeom>
          <a:solidFill>
            <a:srgbClr val="1E293B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19088" y="4791456"/>
            <a:ext cx="201168" cy="1664208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711696" y="4901184"/>
            <a:ext cx="5303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6B6D4"/>
                </a:solidFill>
              </a:rPr>
              <a:t>Tool Development &amp; Testing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11696" y="5294376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E2E8F0"/>
                </a:solidFill>
              </a:rPr>
              <a:t>Use tool-tester.html to validate individual MCP tools in isolation. Swagger /docs for API exploration without the full chat UI.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713232"/>
            <a:ext cx="103327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</a:rPr>
              <a:t>Summary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481328"/>
            <a:ext cx="91440" cy="118872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3B82F6"/>
                </a:solidFill>
              </a:rPr>
              <a:t>Multi-LLM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95681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OpenAI  |  Ollama  |  Enterprise (Comcast)  |  Mock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2990088"/>
            <a:ext cx="91440" cy="1188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3035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0B981"/>
                </a:solidFill>
              </a:rPr>
              <a:t>Tool Execution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46557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JSON-RPC 2.0  |  Parallel  |  Repeated  |  Split-Phase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498848"/>
            <a:ext cx="91440" cy="11887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4544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59E0B"/>
                </a:solidFill>
              </a:rPr>
              <a:t>Query Intelligence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97433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4 routing modes  |  Direct routes  |  Domain narrowing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537959" y="1481328"/>
            <a:ext cx="91440" cy="118872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66559" y="152704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8B5CF6"/>
                </a:solidFill>
              </a:rPr>
              <a:t>Auth &amp; Multi-User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59" y="195681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Azure AD  |  Google OIDC  |  PKCE  |  Per-user isolation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37959" y="2990088"/>
            <a:ext cx="91440" cy="1188720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766559" y="303580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C4899"/>
                </a:solidFill>
              </a:rPr>
              <a:t>UI / 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346557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LibreChat-inspired  |  Dark/Teal/Light  |  Tool panels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537959" y="4498848"/>
            <a:ext cx="91440" cy="1188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766559" y="4544568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6B6D4"/>
                </a:solidFill>
              </a:rPr>
              <a:t>DevOps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66559" y="4974336"/>
            <a:ext cx="548640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E2E8F0"/>
                </a:solidFill>
              </a:rPr>
              <a:t>No build step  |  Python 3.9+  |  OpenAPI  |  SQLite/PG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6291072"/>
            <a:ext cx="1109167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94A3B8"/>
                </a:solidFill>
              </a:rPr>
              <a:t>github.com/vinupalackal/mcp_web_client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